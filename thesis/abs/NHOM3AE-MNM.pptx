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Nova" panose="020B0504020202020204" pitchFamily="34" charset="0"/>
      <p:regular r:id="rId16"/>
      <p:bold r:id="rId17"/>
    </p:embeddedFont>
    <p:embeddedFont>
      <p:font typeface="Muli" panose="020B0604020202020204" charset="-93"/>
      <p:regular r:id="rId18"/>
    </p:embeddedFont>
    <p:embeddedFont>
      <p:font typeface="Raleway" panose="020F0502020204030204" pitchFamily="2" charset="0"/>
      <p:regular r:id="rId19"/>
    </p:embeddedFont>
    <p:embeddedFont>
      <p:font typeface="Raleway Bold" panose="020B0604020202020204" charset="0"/>
      <p:regular r:id="rId20"/>
    </p:embeddedFont>
    <p:embeddedFont>
      <p:font typeface="Roboto" panose="02000000000000000000" pitchFamily="2" charset="0"/>
      <p:regular r:id="rId21"/>
    </p:embeddedFont>
    <p:embeddedFont>
      <p:font typeface="Roboto Bold" panose="02000000000000000000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3994" y="2011415"/>
            <a:ext cx="1826588" cy="1758091"/>
          </a:xfrm>
          <a:custGeom>
            <a:avLst/>
            <a:gdLst/>
            <a:ahLst/>
            <a:cxnLst/>
            <a:rect l="l" t="t" r="r" b="b"/>
            <a:pathLst>
              <a:path w="1826588" h="1758091">
                <a:moveTo>
                  <a:pt x="0" y="0"/>
                </a:moveTo>
                <a:lnTo>
                  <a:pt x="1826588" y="0"/>
                </a:lnTo>
                <a:lnTo>
                  <a:pt x="1826588" y="1758091"/>
                </a:lnTo>
                <a:lnTo>
                  <a:pt x="0" y="1758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79429" y="341830"/>
            <a:ext cx="7475718" cy="128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KHOA KỸ THUẬT VÀ CÔNG NGHỆ</a:t>
            </a:r>
          </a:p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BỘ MÔN CÔNG NGHỆ THÔNG TIN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46369" y="4761748"/>
            <a:ext cx="12362043" cy="687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2"/>
              </a:lnSpc>
              <a:spcBef>
                <a:spcPct val="0"/>
              </a:spcBef>
            </a:pPr>
            <a:r>
              <a:rPr lang="en-US" sz="4065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PHÁT TRIỂN ỨNG DỤNG WEB VỚI MÃ NGUỒN MỞ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64296" y="3948807"/>
            <a:ext cx="7113504" cy="687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92"/>
              </a:lnSpc>
              <a:spcBef>
                <a:spcPct val="0"/>
              </a:spcBef>
            </a:pPr>
            <a:r>
              <a:rPr lang="en-US" sz="4065" b="1" dirty="0">
                <a:solidFill>
                  <a:srgbClr val="000000"/>
                </a:solidFill>
                <a:latin typeface="Arial Nova" panose="020F0502020204030204" pitchFamily="34" charset="0"/>
                <a:ea typeface="Raleway Bold"/>
                <a:cs typeface="Raleway Bold"/>
                <a:sym typeface="Raleway Bold"/>
              </a:rPr>
              <a:t>BÁO CÁO KẾT THÚC MÔN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68474" y="5965332"/>
            <a:ext cx="11917832" cy="88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2"/>
              </a:lnSpc>
              <a:spcBef>
                <a:spcPct val="0"/>
              </a:spcBef>
            </a:pPr>
            <a:r>
              <a:rPr lang="en-US" sz="5165" b="1" dirty="0">
                <a:solidFill>
                  <a:srgbClr val="272B64"/>
                </a:solidFill>
                <a:latin typeface="Raleway Bold"/>
                <a:ea typeface="Raleway Bold"/>
                <a:cs typeface="Raleway Bold"/>
                <a:sym typeface="Raleway Bold"/>
              </a:rPr>
              <a:t>XÂY DỰNG WEBSITE BÁN NƯỚC HOA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6712" y="7970286"/>
            <a:ext cx="6804466" cy="128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Giảng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viên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hướng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dẫn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       </a:t>
            </a:r>
            <a:r>
              <a:rPr lang="en-US" sz="3665" b="1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Nguyễn</a:t>
            </a:r>
            <a:r>
              <a:rPr lang="en-US" sz="3665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b="1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Ngọc</a:t>
            </a:r>
            <a:r>
              <a:rPr lang="en-US" sz="3665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b="1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Đan</a:t>
            </a:r>
            <a:r>
              <a:rPr lang="en-US" sz="3665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Thanh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24162" y="7322586"/>
            <a:ext cx="4635212" cy="258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Sinh viên thực hiện:</a:t>
            </a:r>
          </a:p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Lê Trực Tín</a:t>
            </a:r>
          </a:p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Lê Thị Nguyễn Xuyên</a:t>
            </a:r>
          </a:p>
          <a:p>
            <a:pPr algn="ctr">
              <a:lnSpc>
                <a:spcPts val="5132"/>
              </a:lnSpc>
              <a:spcBef>
                <a:spcPct val="0"/>
              </a:spcBef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Trần Khánh Duy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719" y="3555398"/>
            <a:ext cx="7456493" cy="3176204"/>
            <a:chOff x="-57864" y="-57150"/>
            <a:chExt cx="1963850" cy="836531"/>
          </a:xfrm>
        </p:grpSpPr>
        <p:sp>
          <p:nvSpPr>
            <p:cNvPr id="3" name="Freeform 3"/>
            <p:cNvSpPr/>
            <p:nvPr/>
          </p:nvSpPr>
          <p:spPr>
            <a:xfrm>
              <a:off x="-57864" y="0"/>
              <a:ext cx="1905986" cy="779381"/>
            </a:xfrm>
            <a:custGeom>
              <a:avLst/>
              <a:gdLst/>
              <a:ahLst/>
              <a:cxnLst/>
              <a:rect l="l" t="t" r="r" b="b"/>
              <a:pathLst>
                <a:path w="1905986" h="779381">
                  <a:moveTo>
                    <a:pt x="0" y="0"/>
                  </a:moveTo>
                  <a:lnTo>
                    <a:pt x="1905986" y="0"/>
                  </a:lnTo>
                  <a:lnTo>
                    <a:pt x="1905986" y="779381"/>
                  </a:lnTo>
                  <a:lnTo>
                    <a:pt x="0" y="779381"/>
                  </a:lnTo>
                  <a:close/>
                </a:path>
              </a:pathLst>
            </a:custGeom>
            <a:solidFill>
              <a:srgbClr val="00384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05986" cy="83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876334" y="1410137"/>
            <a:ext cx="1301803" cy="1301803"/>
          </a:xfrm>
          <a:custGeom>
            <a:avLst/>
            <a:gdLst/>
            <a:ahLst/>
            <a:cxnLst/>
            <a:rect l="l" t="t" r="r" b="b"/>
            <a:pathLst>
              <a:path w="1301803" h="1301803">
                <a:moveTo>
                  <a:pt x="0" y="0"/>
                </a:moveTo>
                <a:lnTo>
                  <a:pt x="1301803" y="0"/>
                </a:lnTo>
                <a:lnTo>
                  <a:pt x="1301803" y="1301803"/>
                </a:lnTo>
                <a:lnTo>
                  <a:pt x="0" y="1301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77932" y="2711940"/>
            <a:ext cx="189530" cy="7374305"/>
          </a:xfrm>
          <a:custGeom>
            <a:avLst/>
            <a:gdLst/>
            <a:ahLst/>
            <a:cxnLst/>
            <a:rect l="l" t="t" r="r" b="b"/>
            <a:pathLst>
              <a:path w="189530" h="7374305">
                <a:moveTo>
                  <a:pt x="0" y="0"/>
                </a:moveTo>
                <a:lnTo>
                  <a:pt x="189529" y="0"/>
                </a:lnTo>
                <a:lnTo>
                  <a:pt x="189529" y="7374305"/>
                </a:lnTo>
                <a:lnTo>
                  <a:pt x="0" y="737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4228" b="-642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995011" y="3453952"/>
            <a:ext cx="1148989" cy="1392714"/>
          </a:xfrm>
          <a:custGeom>
            <a:avLst/>
            <a:gdLst/>
            <a:ahLst/>
            <a:cxnLst/>
            <a:rect l="l" t="t" r="r" b="b"/>
            <a:pathLst>
              <a:path w="1148989" h="1392714">
                <a:moveTo>
                  <a:pt x="0" y="0"/>
                </a:moveTo>
                <a:lnTo>
                  <a:pt x="1148989" y="0"/>
                </a:lnTo>
                <a:lnTo>
                  <a:pt x="1148989" y="1392714"/>
                </a:lnTo>
                <a:lnTo>
                  <a:pt x="0" y="1392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876334" y="5463620"/>
            <a:ext cx="1386343" cy="1531102"/>
          </a:xfrm>
          <a:custGeom>
            <a:avLst/>
            <a:gdLst/>
            <a:ahLst/>
            <a:cxnLst/>
            <a:rect l="l" t="t" r="r" b="b"/>
            <a:pathLst>
              <a:path w="1386343" h="1531102">
                <a:moveTo>
                  <a:pt x="0" y="0"/>
                </a:moveTo>
                <a:lnTo>
                  <a:pt x="1386343" y="0"/>
                </a:lnTo>
                <a:lnTo>
                  <a:pt x="1386343" y="1531102"/>
                </a:lnTo>
                <a:lnTo>
                  <a:pt x="0" y="1531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995011" y="7937697"/>
            <a:ext cx="1283382" cy="1039539"/>
          </a:xfrm>
          <a:custGeom>
            <a:avLst/>
            <a:gdLst/>
            <a:ahLst/>
            <a:cxnLst/>
            <a:rect l="l" t="t" r="r" b="b"/>
            <a:pathLst>
              <a:path w="1283382" h="1039539">
                <a:moveTo>
                  <a:pt x="0" y="0"/>
                </a:moveTo>
                <a:lnTo>
                  <a:pt x="1283381" y="0"/>
                </a:lnTo>
                <a:lnTo>
                  <a:pt x="1283381" y="1039539"/>
                </a:lnTo>
                <a:lnTo>
                  <a:pt x="0" y="1039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58913" y="4514602"/>
            <a:ext cx="6902736" cy="134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2"/>
              </a:lnSpc>
            </a:pPr>
            <a:r>
              <a:rPr lang="en-US" sz="8876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NỘI DUNG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78392" y="1510415"/>
            <a:ext cx="3858816" cy="986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6"/>
              </a:lnSpc>
              <a:spcBef>
                <a:spcPct val="0"/>
              </a:spcBef>
            </a:pPr>
            <a:r>
              <a:rPr lang="en-US" sz="5768" b="1" dirty="0" err="1">
                <a:solidFill>
                  <a:srgbClr val="FFBD59"/>
                </a:solidFill>
                <a:latin typeface="Raleway Bold"/>
                <a:ea typeface="Raleway Bold"/>
                <a:cs typeface="Raleway Bold"/>
                <a:sym typeface="Raleway Bold"/>
              </a:rPr>
              <a:t>Tổng</a:t>
            </a:r>
            <a:r>
              <a:rPr lang="en-US" sz="5768" b="1" dirty="0">
                <a:solidFill>
                  <a:srgbClr val="FFBD59"/>
                </a:solidFill>
                <a:latin typeface="Raleway Bold"/>
                <a:ea typeface="Raleway Bold"/>
                <a:cs typeface="Raleway Bold"/>
                <a:sym typeface="Raleway Bold"/>
              </a:rPr>
              <a:t>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77333" y="3676914"/>
            <a:ext cx="8519749" cy="94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  <a:spcBef>
                <a:spcPct val="0"/>
              </a:spcBef>
            </a:pPr>
            <a:r>
              <a:rPr lang="en-US" sz="5770" b="1" dirty="0" err="1">
                <a:solidFill>
                  <a:srgbClr val="272B64"/>
                </a:solidFill>
                <a:latin typeface="Raleway Bold"/>
                <a:ea typeface="Raleway Bold"/>
                <a:cs typeface="Raleway Bold"/>
                <a:sym typeface="Raleway Bold"/>
              </a:rPr>
              <a:t>Nghiên</a:t>
            </a:r>
            <a:r>
              <a:rPr lang="en-US" sz="5770" b="1" dirty="0">
                <a:solidFill>
                  <a:srgbClr val="272B64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272B64"/>
                </a:solidFill>
                <a:latin typeface="Raleway Bold"/>
                <a:ea typeface="Raleway Bold"/>
                <a:cs typeface="Raleway Bold"/>
                <a:sym typeface="Raleway Bold"/>
              </a:rPr>
              <a:t>Cứu</a:t>
            </a:r>
            <a:r>
              <a:rPr lang="en-US" sz="5770" b="1" dirty="0">
                <a:solidFill>
                  <a:srgbClr val="272B64"/>
                </a:solidFill>
                <a:latin typeface="Raleway Bold"/>
                <a:ea typeface="Raleway Bold"/>
                <a:cs typeface="Raleway Bold"/>
                <a:sym typeface="Raleway Bold"/>
              </a:rPr>
              <a:t> Lý </a:t>
            </a:r>
            <a:r>
              <a:rPr lang="en-US" sz="5770" b="1" dirty="0" err="1">
                <a:solidFill>
                  <a:srgbClr val="272B64"/>
                </a:solidFill>
                <a:latin typeface="Raleway Bold"/>
                <a:ea typeface="Raleway Bold"/>
                <a:cs typeface="Raleway Bold"/>
                <a:sym typeface="Raleway Bold"/>
              </a:rPr>
              <a:t>Thuyết</a:t>
            </a:r>
            <a:endParaRPr lang="en-US" sz="5770" b="1" dirty="0">
              <a:solidFill>
                <a:srgbClr val="272B64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262677" y="5819143"/>
            <a:ext cx="9463967" cy="89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91"/>
              </a:lnSpc>
              <a:spcBef>
                <a:spcPct val="0"/>
              </a:spcBef>
            </a:pPr>
            <a:r>
              <a:rPr lang="en-US" sz="5770" b="1" dirty="0" err="1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Hiện</a:t>
            </a:r>
            <a:r>
              <a:rPr lang="en-US" sz="5770" b="1" dirty="0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Thực</a:t>
            </a:r>
            <a:r>
              <a:rPr lang="en-US" sz="5770" b="1" dirty="0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Hóa</a:t>
            </a:r>
            <a:r>
              <a:rPr lang="en-US" sz="5770" b="1" dirty="0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Nghiên</a:t>
            </a:r>
            <a:r>
              <a:rPr lang="en-US" sz="5770" b="1" dirty="0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A66C98"/>
                </a:solidFill>
                <a:latin typeface="Raleway Bold"/>
                <a:ea typeface="Raleway Bold"/>
                <a:cs typeface="Raleway Bold"/>
                <a:sym typeface="Raleway Bold"/>
              </a:rPr>
              <a:t>Cứu</a:t>
            </a:r>
            <a:endParaRPr lang="en-US" sz="5770" b="1" dirty="0">
              <a:solidFill>
                <a:srgbClr val="A66C98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03918" y="7937697"/>
            <a:ext cx="8286068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31"/>
              </a:lnSpc>
              <a:spcBef>
                <a:spcPct val="0"/>
              </a:spcBef>
            </a:pPr>
            <a:r>
              <a:rPr lang="en-US" sz="5770" b="1" dirty="0" err="1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Kết</a:t>
            </a:r>
            <a:r>
              <a:rPr lang="en-US" sz="5770" b="1" dirty="0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Luận</a:t>
            </a:r>
            <a:r>
              <a:rPr lang="en-US" sz="5770" b="1" dirty="0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Và</a:t>
            </a:r>
            <a:r>
              <a:rPr lang="en-US" sz="5770" b="1" dirty="0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Hướng</a:t>
            </a:r>
            <a:r>
              <a:rPr lang="en-US" sz="5770" b="1" dirty="0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Phát</a:t>
            </a:r>
            <a:r>
              <a:rPr lang="en-US" sz="5770" b="1" dirty="0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770" b="1" dirty="0" err="1">
                <a:solidFill>
                  <a:srgbClr val="00384D"/>
                </a:solidFill>
                <a:latin typeface="Raleway Bold"/>
                <a:ea typeface="Raleway Bold"/>
                <a:cs typeface="Raleway Bold"/>
                <a:sym typeface="Raleway Bold"/>
              </a:rPr>
              <a:t>Triển</a:t>
            </a:r>
            <a:endParaRPr lang="en-US" sz="5770" b="1" dirty="0">
              <a:solidFill>
                <a:srgbClr val="00384D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5414" y="8840762"/>
            <a:ext cx="10184208" cy="1087645"/>
            <a:chOff x="0" y="0"/>
            <a:chExt cx="2682261" cy="2864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2261" cy="286458"/>
            </a:xfrm>
            <a:custGeom>
              <a:avLst/>
              <a:gdLst/>
              <a:ahLst/>
              <a:cxnLst/>
              <a:rect l="l" t="t" r="r" b="b"/>
              <a:pathLst>
                <a:path w="2682261" h="286458">
                  <a:moveTo>
                    <a:pt x="0" y="0"/>
                  </a:moveTo>
                  <a:lnTo>
                    <a:pt x="2682261" y="0"/>
                  </a:lnTo>
                  <a:lnTo>
                    <a:pt x="2682261" y="286458"/>
                  </a:lnTo>
                  <a:lnTo>
                    <a:pt x="0" y="286458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2261" cy="334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96058" y="-478324"/>
            <a:ext cx="10184208" cy="1507024"/>
            <a:chOff x="0" y="0"/>
            <a:chExt cx="2682261" cy="3969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2261" cy="396912"/>
            </a:xfrm>
            <a:custGeom>
              <a:avLst/>
              <a:gdLst/>
              <a:ahLst/>
              <a:cxnLst/>
              <a:rect l="l" t="t" r="r" b="b"/>
              <a:pathLst>
                <a:path w="2682261" h="396912">
                  <a:moveTo>
                    <a:pt x="0" y="0"/>
                  </a:moveTo>
                  <a:lnTo>
                    <a:pt x="2682261" y="0"/>
                  </a:lnTo>
                  <a:lnTo>
                    <a:pt x="2682261" y="396912"/>
                  </a:lnTo>
                  <a:lnTo>
                    <a:pt x="0" y="396912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82261" cy="44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462184" y="3863801"/>
            <a:ext cx="9220682" cy="2958020"/>
            <a:chOff x="0" y="0"/>
            <a:chExt cx="2428492" cy="7790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8492" cy="779067"/>
            </a:xfrm>
            <a:custGeom>
              <a:avLst/>
              <a:gdLst/>
              <a:ahLst/>
              <a:cxnLst/>
              <a:rect l="l" t="t" r="r" b="b"/>
              <a:pathLst>
                <a:path w="2428492" h="779067">
                  <a:moveTo>
                    <a:pt x="0" y="0"/>
                  </a:moveTo>
                  <a:lnTo>
                    <a:pt x="2428492" y="0"/>
                  </a:lnTo>
                  <a:lnTo>
                    <a:pt x="2428492" y="779067"/>
                  </a:lnTo>
                  <a:lnTo>
                    <a:pt x="0" y="779067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28492" cy="826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462184" y="4383961"/>
            <a:ext cx="9220682" cy="171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C54D"/>
                </a:solidFill>
                <a:latin typeface="Roboto Bold"/>
                <a:ea typeface="Roboto Bold"/>
                <a:cs typeface="Roboto Bold"/>
                <a:sym typeface="Roboto Bold"/>
              </a:rPr>
              <a:t>TỔNG QUAN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2801" cy="1391776"/>
            <a:chOff x="0" y="0"/>
            <a:chExt cx="2368474" cy="366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474" cy="366558"/>
            </a:xfrm>
            <a:custGeom>
              <a:avLst/>
              <a:gdLst/>
              <a:ahLst/>
              <a:cxnLst/>
              <a:rect l="l" t="t" r="r" b="b"/>
              <a:pathLst>
                <a:path w="2368474" h="366558">
                  <a:moveTo>
                    <a:pt x="0" y="0"/>
                  </a:moveTo>
                  <a:lnTo>
                    <a:pt x="2368474" y="0"/>
                  </a:lnTo>
                  <a:lnTo>
                    <a:pt x="2368474" y="366558"/>
                  </a:lnTo>
                  <a:lnTo>
                    <a:pt x="0" y="366558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474" cy="4237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674500" y="2010905"/>
            <a:ext cx="4700084" cy="5356221"/>
          </a:xfrm>
          <a:custGeom>
            <a:avLst/>
            <a:gdLst/>
            <a:ahLst/>
            <a:cxnLst/>
            <a:rect l="l" t="t" r="r" b="b"/>
            <a:pathLst>
              <a:path w="4700084" h="5356221">
                <a:moveTo>
                  <a:pt x="0" y="0"/>
                </a:moveTo>
                <a:lnTo>
                  <a:pt x="4700084" y="0"/>
                </a:lnTo>
                <a:lnTo>
                  <a:pt x="4700084" y="5356221"/>
                </a:lnTo>
                <a:lnTo>
                  <a:pt x="0" y="5356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207773"/>
            <a:ext cx="8992801" cy="87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  <a:spcBef>
                <a:spcPct val="0"/>
              </a:spcBef>
            </a:pPr>
            <a:r>
              <a:rPr lang="en-US" sz="506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LÝ DO CHỌN ĐỀ TÀI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077" y="2095993"/>
            <a:ext cx="10070696" cy="1288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442" lvl="1" indent="-395721" algn="l">
              <a:lnSpc>
                <a:spcPts val="5132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Là sự kết hợp độc đáo giữa nhu cầu thị trường nước hoa và thương mại điện tử.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4077" y="4114892"/>
            <a:ext cx="9919497" cy="193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442" lvl="1" indent="-395721" algn="l">
              <a:lnSpc>
                <a:spcPts val="5132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Tận dụng xu hướng mua sắm trực tuyến ngày càng tăng cùng với sức hút mạnh mẽ của các sản phẩm nước hoa.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4077" y="6781492"/>
            <a:ext cx="8411722" cy="193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442" lvl="1" indent="-395721" algn="l">
              <a:lnSpc>
                <a:spcPts val="5132"/>
              </a:lnSpc>
              <a:buFont typeface="Arial"/>
              <a:buChar char="•"/>
            </a:pPr>
            <a:r>
              <a:rPr lang="en-US" sz="366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Giúp người dùng dễ dàng hơn trong việc tìm kiếm và đặt mua các sản phẩm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2801" cy="1391776"/>
            <a:chOff x="0" y="0"/>
            <a:chExt cx="2368474" cy="366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474" cy="366558"/>
            </a:xfrm>
            <a:custGeom>
              <a:avLst/>
              <a:gdLst/>
              <a:ahLst/>
              <a:cxnLst/>
              <a:rect l="l" t="t" r="r" b="b"/>
              <a:pathLst>
                <a:path w="2368474" h="366558">
                  <a:moveTo>
                    <a:pt x="0" y="0"/>
                  </a:moveTo>
                  <a:lnTo>
                    <a:pt x="2368474" y="0"/>
                  </a:lnTo>
                  <a:lnTo>
                    <a:pt x="2368474" y="366558"/>
                  </a:lnTo>
                  <a:lnTo>
                    <a:pt x="0" y="366558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474" cy="4237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19528" y="3876268"/>
            <a:ext cx="5344569" cy="5090702"/>
          </a:xfrm>
          <a:custGeom>
            <a:avLst/>
            <a:gdLst/>
            <a:ahLst/>
            <a:cxnLst/>
            <a:rect l="l" t="t" r="r" b="b"/>
            <a:pathLst>
              <a:path w="5344569" h="5090702">
                <a:moveTo>
                  <a:pt x="0" y="0"/>
                </a:moveTo>
                <a:lnTo>
                  <a:pt x="5344569" y="0"/>
                </a:lnTo>
                <a:lnTo>
                  <a:pt x="5344569" y="5090703"/>
                </a:lnTo>
                <a:lnTo>
                  <a:pt x="0" y="509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207773"/>
            <a:ext cx="8992801" cy="87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  <a:spcBef>
                <a:spcPct val="0"/>
              </a:spcBef>
            </a:pPr>
            <a:r>
              <a:rPr lang="en-US" sz="506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MỤC TIÊU CỦA ĐỀ TÀI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7551" y="2217849"/>
            <a:ext cx="8705250" cy="323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442" lvl="1" indent="-395721" algn="l">
              <a:lnSpc>
                <a:spcPts val="5132"/>
              </a:lnSpc>
              <a:buFont typeface="Arial"/>
              <a:buChar char="•"/>
            </a:pP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Tạo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được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một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website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bán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nước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hoa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giúp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người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dùng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có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thể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tương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tác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với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các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đối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tượng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và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người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kinh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doanh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để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thuận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tiện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trong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việc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trao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đổi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mua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bán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thanh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toán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sản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phẩm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9674" y="6275036"/>
            <a:ext cx="8030288" cy="193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1442" lvl="1" indent="-395721" algn="l">
              <a:lnSpc>
                <a:spcPts val="5132"/>
              </a:lnSpc>
              <a:buFont typeface="Arial"/>
              <a:buChar char="•"/>
            </a:pP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Giúp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người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kinh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doanh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có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thể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quản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lý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sản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phẩm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và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quảng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bá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được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thương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hiệu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của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cửa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665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hàng</a:t>
            </a:r>
            <a:r>
              <a:rPr lang="en-US" sz="3665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5414" y="8840762"/>
            <a:ext cx="10184208" cy="1087645"/>
            <a:chOff x="0" y="0"/>
            <a:chExt cx="2682261" cy="2864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2261" cy="286458"/>
            </a:xfrm>
            <a:custGeom>
              <a:avLst/>
              <a:gdLst/>
              <a:ahLst/>
              <a:cxnLst/>
              <a:rect l="l" t="t" r="r" b="b"/>
              <a:pathLst>
                <a:path w="2682261" h="286458">
                  <a:moveTo>
                    <a:pt x="0" y="0"/>
                  </a:moveTo>
                  <a:lnTo>
                    <a:pt x="2682261" y="0"/>
                  </a:lnTo>
                  <a:lnTo>
                    <a:pt x="2682261" y="286458"/>
                  </a:lnTo>
                  <a:lnTo>
                    <a:pt x="0" y="286458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2261" cy="334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96058" y="-478324"/>
            <a:ext cx="10184208" cy="1507024"/>
            <a:chOff x="0" y="0"/>
            <a:chExt cx="2682261" cy="3969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2261" cy="396912"/>
            </a:xfrm>
            <a:custGeom>
              <a:avLst/>
              <a:gdLst/>
              <a:ahLst/>
              <a:cxnLst/>
              <a:rect l="l" t="t" r="r" b="b"/>
              <a:pathLst>
                <a:path w="2682261" h="396912">
                  <a:moveTo>
                    <a:pt x="0" y="0"/>
                  </a:moveTo>
                  <a:lnTo>
                    <a:pt x="2682261" y="0"/>
                  </a:lnTo>
                  <a:lnTo>
                    <a:pt x="2682261" y="396912"/>
                  </a:lnTo>
                  <a:lnTo>
                    <a:pt x="0" y="396912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82261" cy="44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45876" y="3455721"/>
            <a:ext cx="13584889" cy="4006563"/>
            <a:chOff x="0" y="0"/>
            <a:chExt cx="3577913" cy="10552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77913" cy="1055226"/>
            </a:xfrm>
            <a:custGeom>
              <a:avLst/>
              <a:gdLst/>
              <a:ahLst/>
              <a:cxnLst/>
              <a:rect l="l" t="t" r="r" b="b"/>
              <a:pathLst>
                <a:path w="3577913" h="1055226">
                  <a:moveTo>
                    <a:pt x="0" y="0"/>
                  </a:moveTo>
                  <a:lnTo>
                    <a:pt x="3577913" y="0"/>
                  </a:lnTo>
                  <a:lnTo>
                    <a:pt x="3577913" y="1055226"/>
                  </a:lnTo>
                  <a:lnTo>
                    <a:pt x="0" y="1055226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577913" cy="1102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93265" y="3854996"/>
            <a:ext cx="14690110" cy="303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1">
                <a:solidFill>
                  <a:srgbClr val="FFC54D"/>
                </a:solidFill>
                <a:latin typeface="Roboto Bold"/>
                <a:ea typeface="Roboto Bold"/>
                <a:cs typeface="Roboto Bold"/>
                <a:sym typeface="Roboto Bold"/>
              </a:rPr>
              <a:t>NGHIÊN CỨU</a:t>
            </a:r>
          </a:p>
          <a:p>
            <a:pPr algn="ctr">
              <a:lnSpc>
                <a:spcPts val="12180"/>
              </a:lnSpc>
              <a:spcBef>
                <a:spcPct val="0"/>
              </a:spcBef>
            </a:pPr>
            <a:r>
              <a:rPr lang="en-US" sz="8700" b="1">
                <a:solidFill>
                  <a:srgbClr val="FFC54D"/>
                </a:solidFill>
                <a:latin typeface="Roboto Bold"/>
                <a:ea typeface="Roboto Bold"/>
                <a:cs typeface="Roboto Bold"/>
                <a:sym typeface="Roboto Bold"/>
              </a:rPr>
              <a:t> LÝ THUYẾT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2801" cy="1391776"/>
            <a:chOff x="0" y="0"/>
            <a:chExt cx="2368474" cy="366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474" cy="366558"/>
            </a:xfrm>
            <a:custGeom>
              <a:avLst/>
              <a:gdLst/>
              <a:ahLst/>
              <a:cxnLst/>
              <a:rect l="l" t="t" r="r" b="b"/>
              <a:pathLst>
                <a:path w="2368474" h="366558">
                  <a:moveTo>
                    <a:pt x="0" y="0"/>
                  </a:moveTo>
                  <a:lnTo>
                    <a:pt x="2368474" y="0"/>
                  </a:lnTo>
                  <a:lnTo>
                    <a:pt x="2368474" y="366558"/>
                  </a:lnTo>
                  <a:lnTo>
                    <a:pt x="0" y="366558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474" cy="4237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91902"/>
            <a:ext cx="7060266" cy="3706640"/>
          </a:xfrm>
          <a:custGeom>
            <a:avLst/>
            <a:gdLst/>
            <a:ahLst/>
            <a:cxnLst/>
            <a:rect l="l" t="t" r="r" b="b"/>
            <a:pathLst>
              <a:path w="7060266" h="3706640">
                <a:moveTo>
                  <a:pt x="0" y="0"/>
                </a:moveTo>
                <a:lnTo>
                  <a:pt x="7060266" y="0"/>
                </a:lnTo>
                <a:lnTo>
                  <a:pt x="7060266" y="3706640"/>
                </a:lnTo>
                <a:lnTo>
                  <a:pt x="0" y="3706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97682" y="6209047"/>
            <a:ext cx="7322462" cy="3661231"/>
          </a:xfrm>
          <a:custGeom>
            <a:avLst/>
            <a:gdLst/>
            <a:ahLst/>
            <a:cxnLst/>
            <a:rect l="l" t="t" r="r" b="b"/>
            <a:pathLst>
              <a:path w="7322462" h="3661231">
                <a:moveTo>
                  <a:pt x="0" y="0"/>
                </a:moveTo>
                <a:lnTo>
                  <a:pt x="7322462" y="0"/>
                </a:lnTo>
                <a:lnTo>
                  <a:pt x="7322462" y="3661231"/>
                </a:lnTo>
                <a:lnTo>
                  <a:pt x="0" y="3661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096359" y="1391776"/>
            <a:ext cx="6129264" cy="3447711"/>
          </a:xfrm>
          <a:custGeom>
            <a:avLst/>
            <a:gdLst/>
            <a:ahLst/>
            <a:cxnLst/>
            <a:rect l="l" t="t" r="r" b="b"/>
            <a:pathLst>
              <a:path w="6129264" h="3447711">
                <a:moveTo>
                  <a:pt x="0" y="0"/>
                </a:moveTo>
                <a:lnTo>
                  <a:pt x="6129264" y="0"/>
                </a:lnTo>
                <a:lnTo>
                  <a:pt x="6129264" y="3447711"/>
                </a:lnTo>
                <a:lnTo>
                  <a:pt x="0" y="3447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207773"/>
            <a:ext cx="8992801" cy="87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  <a:spcBef>
                <a:spcPct val="0"/>
              </a:spcBef>
            </a:pPr>
            <a:r>
              <a:rPr lang="en-US" sz="506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CÔNG NGHỆ SỬ DỤNG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5414" y="8840762"/>
            <a:ext cx="10184208" cy="1087645"/>
            <a:chOff x="0" y="0"/>
            <a:chExt cx="2682261" cy="2864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2261" cy="286458"/>
            </a:xfrm>
            <a:custGeom>
              <a:avLst/>
              <a:gdLst/>
              <a:ahLst/>
              <a:cxnLst/>
              <a:rect l="l" t="t" r="r" b="b"/>
              <a:pathLst>
                <a:path w="2682261" h="286458">
                  <a:moveTo>
                    <a:pt x="0" y="0"/>
                  </a:moveTo>
                  <a:lnTo>
                    <a:pt x="2682261" y="0"/>
                  </a:lnTo>
                  <a:lnTo>
                    <a:pt x="2682261" y="286458"/>
                  </a:lnTo>
                  <a:lnTo>
                    <a:pt x="0" y="286458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2261" cy="334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96058" y="-478324"/>
            <a:ext cx="10184208" cy="1507024"/>
            <a:chOff x="0" y="0"/>
            <a:chExt cx="2682261" cy="3969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2261" cy="396912"/>
            </a:xfrm>
            <a:custGeom>
              <a:avLst/>
              <a:gdLst/>
              <a:ahLst/>
              <a:cxnLst/>
              <a:rect l="l" t="t" r="r" b="b"/>
              <a:pathLst>
                <a:path w="2682261" h="396912">
                  <a:moveTo>
                    <a:pt x="0" y="0"/>
                  </a:moveTo>
                  <a:lnTo>
                    <a:pt x="2682261" y="0"/>
                  </a:lnTo>
                  <a:lnTo>
                    <a:pt x="2682261" y="396912"/>
                  </a:lnTo>
                  <a:lnTo>
                    <a:pt x="0" y="396912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82261" cy="44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45876" y="3455721"/>
            <a:ext cx="13584889" cy="4006563"/>
            <a:chOff x="0" y="0"/>
            <a:chExt cx="3577913" cy="10552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77913" cy="1055226"/>
            </a:xfrm>
            <a:custGeom>
              <a:avLst/>
              <a:gdLst/>
              <a:ahLst/>
              <a:cxnLst/>
              <a:rect l="l" t="t" r="r" b="b"/>
              <a:pathLst>
                <a:path w="3577913" h="1055226">
                  <a:moveTo>
                    <a:pt x="0" y="0"/>
                  </a:moveTo>
                  <a:lnTo>
                    <a:pt x="3577913" y="0"/>
                  </a:lnTo>
                  <a:lnTo>
                    <a:pt x="3577913" y="1055226"/>
                  </a:lnTo>
                  <a:lnTo>
                    <a:pt x="0" y="1055226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577913" cy="1102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93265" y="3854996"/>
            <a:ext cx="14690110" cy="303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1">
                <a:solidFill>
                  <a:srgbClr val="FFC54D"/>
                </a:solidFill>
                <a:latin typeface="Roboto Bold"/>
                <a:ea typeface="Roboto Bold"/>
                <a:cs typeface="Roboto Bold"/>
                <a:sym typeface="Roboto Bold"/>
              </a:rPr>
              <a:t>THỰC HIỆN HÓA </a:t>
            </a:r>
          </a:p>
          <a:p>
            <a:pPr algn="ctr">
              <a:lnSpc>
                <a:spcPts val="12180"/>
              </a:lnSpc>
              <a:spcBef>
                <a:spcPct val="0"/>
              </a:spcBef>
            </a:pPr>
            <a:r>
              <a:rPr lang="en-US" sz="8700" b="1">
                <a:solidFill>
                  <a:srgbClr val="FFC54D"/>
                </a:solidFill>
                <a:latin typeface="Roboto Bold"/>
                <a:ea typeface="Roboto Bold"/>
                <a:cs typeface="Roboto Bold"/>
                <a:sym typeface="Roboto Bold"/>
              </a:rPr>
              <a:t>NGHIÊN CỨU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96058" y="-478324"/>
            <a:ext cx="10184208" cy="1507024"/>
            <a:chOff x="0" y="0"/>
            <a:chExt cx="2682261" cy="396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2261" cy="396912"/>
            </a:xfrm>
            <a:custGeom>
              <a:avLst/>
              <a:gdLst/>
              <a:ahLst/>
              <a:cxnLst/>
              <a:rect l="l" t="t" r="r" b="b"/>
              <a:pathLst>
                <a:path w="2682261" h="396912">
                  <a:moveTo>
                    <a:pt x="0" y="0"/>
                  </a:moveTo>
                  <a:lnTo>
                    <a:pt x="2682261" y="0"/>
                  </a:lnTo>
                  <a:lnTo>
                    <a:pt x="2682261" y="396912"/>
                  </a:lnTo>
                  <a:lnTo>
                    <a:pt x="0" y="396912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2261" cy="44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12677" y="1780072"/>
            <a:ext cx="7540210" cy="8226179"/>
          </a:xfrm>
          <a:custGeom>
            <a:avLst/>
            <a:gdLst/>
            <a:ahLst/>
            <a:cxnLst/>
            <a:rect l="l" t="t" r="r" b="b"/>
            <a:pathLst>
              <a:path w="7540210" h="8226179">
                <a:moveTo>
                  <a:pt x="0" y="0"/>
                </a:moveTo>
                <a:lnTo>
                  <a:pt x="7540210" y="0"/>
                </a:lnTo>
                <a:lnTo>
                  <a:pt x="7540210" y="8226178"/>
                </a:lnTo>
                <a:lnTo>
                  <a:pt x="0" y="8226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213135" y="-123825"/>
            <a:ext cx="6335316" cy="106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1"/>
              </a:lnSpc>
              <a:spcBef>
                <a:spcPct val="0"/>
              </a:spcBef>
            </a:pPr>
            <a:r>
              <a:rPr lang="en-US" sz="61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 HÌNH DỮ LIỆU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8480" y="1255315"/>
            <a:ext cx="5735132" cy="524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  <a:spcBef>
                <a:spcPct val="0"/>
              </a:spcBef>
            </a:pPr>
            <a:r>
              <a:rPr lang="en-US" sz="296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Mô hình dữ liệu mức quan niệm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96058" y="-478324"/>
            <a:ext cx="10184208" cy="1507024"/>
            <a:chOff x="0" y="0"/>
            <a:chExt cx="2682261" cy="396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2261" cy="396912"/>
            </a:xfrm>
            <a:custGeom>
              <a:avLst/>
              <a:gdLst/>
              <a:ahLst/>
              <a:cxnLst/>
              <a:rect l="l" t="t" r="r" b="b"/>
              <a:pathLst>
                <a:path w="2682261" h="396912">
                  <a:moveTo>
                    <a:pt x="0" y="0"/>
                  </a:moveTo>
                  <a:lnTo>
                    <a:pt x="2682261" y="0"/>
                  </a:lnTo>
                  <a:lnTo>
                    <a:pt x="2682261" y="396912"/>
                  </a:lnTo>
                  <a:lnTo>
                    <a:pt x="0" y="396912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2261" cy="44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138734" y="1861346"/>
            <a:ext cx="7201592" cy="8091677"/>
          </a:xfrm>
          <a:custGeom>
            <a:avLst/>
            <a:gdLst/>
            <a:ahLst/>
            <a:cxnLst/>
            <a:rect l="l" t="t" r="r" b="b"/>
            <a:pathLst>
              <a:path w="7201592" h="8091677">
                <a:moveTo>
                  <a:pt x="0" y="0"/>
                </a:moveTo>
                <a:lnTo>
                  <a:pt x="7201593" y="0"/>
                </a:lnTo>
                <a:lnTo>
                  <a:pt x="7201593" y="8091677"/>
                </a:lnTo>
                <a:lnTo>
                  <a:pt x="0" y="809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213134" y="-123825"/>
            <a:ext cx="6940265" cy="1062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31"/>
              </a:lnSpc>
              <a:spcBef>
                <a:spcPct val="0"/>
              </a:spcBef>
            </a:pPr>
            <a:r>
              <a:rPr lang="en-US" sz="6165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 HÌNH DỮ LIỆU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2114" y="1255315"/>
            <a:ext cx="4727864" cy="104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</a:pPr>
            <a:r>
              <a:rPr lang="en-US" sz="2965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Mô hình dữ liệu mức logic</a:t>
            </a:r>
          </a:p>
          <a:p>
            <a:pPr algn="ctr">
              <a:lnSpc>
                <a:spcPts val="4151"/>
              </a:lnSpc>
              <a:spcBef>
                <a:spcPct val="0"/>
              </a:spcBef>
            </a:pPr>
            <a:endParaRPr lang="en-US" sz="2965" b="1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55414" y="8840762"/>
            <a:ext cx="10184208" cy="1087645"/>
            <a:chOff x="0" y="0"/>
            <a:chExt cx="2682261" cy="2864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2261" cy="286458"/>
            </a:xfrm>
            <a:custGeom>
              <a:avLst/>
              <a:gdLst/>
              <a:ahLst/>
              <a:cxnLst/>
              <a:rect l="l" t="t" r="r" b="b"/>
              <a:pathLst>
                <a:path w="2682261" h="286458">
                  <a:moveTo>
                    <a:pt x="0" y="0"/>
                  </a:moveTo>
                  <a:lnTo>
                    <a:pt x="2682261" y="0"/>
                  </a:lnTo>
                  <a:lnTo>
                    <a:pt x="2682261" y="286458"/>
                  </a:lnTo>
                  <a:lnTo>
                    <a:pt x="0" y="286458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82261" cy="334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96058" y="-478324"/>
            <a:ext cx="10184208" cy="1507024"/>
            <a:chOff x="0" y="0"/>
            <a:chExt cx="2682261" cy="3969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2261" cy="396912"/>
            </a:xfrm>
            <a:custGeom>
              <a:avLst/>
              <a:gdLst/>
              <a:ahLst/>
              <a:cxnLst/>
              <a:rect l="l" t="t" r="r" b="b"/>
              <a:pathLst>
                <a:path w="2682261" h="396912">
                  <a:moveTo>
                    <a:pt x="0" y="0"/>
                  </a:moveTo>
                  <a:lnTo>
                    <a:pt x="2682261" y="0"/>
                  </a:lnTo>
                  <a:lnTo>
                    <a:pt x="2682261" y="396912"/>
                  </a:lnTo>
                  <a:lnTo>
                    <a:pt x="0" y="396912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82261" cy="444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45876" y="3455721"/>
            <a:ext cx="13584889" cy="4006563"/>
            <a:chOff x="0" y="0"/>
            <a:chExt cx="3577913" cy="10552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77913" cy="1055226"/>
            </a:xfrm>
            <a:custGeom>
              <a:avLst/>
              <a:gdLst/>
              <a:ahLst/>
              <a:cxnLst/>
              <a:rect l="l" t="t" r="r" b="b"/>
              <a:pathLst>
                <a:path w="3577913" h="1055226">
                  <a:moveTo>
                    <a:pt x="0" y="0"/>
                  </a:moveTo>
                  <a:lnTo>
                    <a:pt x="3577913" y="0"/>
                  </a:lnTo>
                  <a:lnTo>
                    <a:pt x="3577913" y="1055226"/>
                  </a:lnTo>
                  <a:lnTo>
                    <a:pt x="0" y="1055226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577913" cy="1102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569190" y="4116419"/>
            <a:ext cx="14690110" cy="303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1">
                <a:solidFill>
                  <a:srgbClr val="FFC54D"/>
                </a:solidFill>
                <a:latin typeface="Roboto Bold"/>
                <a:ea typeface="Roboto Bold"/>
                <a:cs typeface="Roboto Bold"/>
                <a:sym typeface="Roboto Bold"/>
              </a:rPr>
              <a:t>KẾT LUẬN VÀ HƯỚNG </a:t>
            </a:r>
          </a:p>
          <a:p>
            <a:pPr algn="ctr">
              <a:lnSpc>
                <a:spcPts val="12180"/>
              </a:lnSpc>
              <a:spcBef>
                <a:spcPct val="0"/>
              </a:spcBef>
            </a:pPr>
            <a:r>
              <a:rPr lang="en-US" sz="8700" b="1">
                <a:solidFill>
                  <a:srgbClr val="FFC54D"/>
                </a:solidFill>
                <a:latin typeface="Roboto Bold"/>
                <a:ea typeface="Roboto Bold"/>
                <a:cs typeface="Roboto Bold"/>
                <a:sym typeface="Roboto Bold"/>
              </a:rPr>
              <a:t>PHÁT TRIỂN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94243" y="-1071552"/>
            <a:ext cx="7469793" cy="2100252"/>
            <a:chOff x="0" y="0"/>
            <a:chExt cx="1967353" cy="553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7353" cy="553153"/>
            </a:xfrm>
            <a:custGeom>
              <a:avLst/>
              <a:gdLst/>
              <a:ahLst/>
              <a:cxnLst/>
              <a:rect l="l" t="t" r="r" b="b"/>
              <a:pathLst>
                <a:path w="1967353" h="553153">
                  <a:moveTo>
                    <a:pt x="0" y="0"/>
                  </a:moveTo>
                  <a:lnTo>
                    <a:pt x="1967353" y="0"/>
                  </a:lnTo>
                  <a:lnTo>
                    <a:pt x="1967353" y="553153"/>
                  </a:lnTo>
                  <a:lnTo>
                    <a:pt x="0" y="553153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967353" cy="610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44316" y="1764264"/>
            <a:ext cx="10660559" cy="656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9"/>
              </a:lnSpc>
              <a:spcBef>
                <a:spcPct val="0"/>
              </a:spcBef>
            </a:pPr>
            <a:r>
              <a:rPr lang="en-US" sz="3042" spc="593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3042" spc="593" dirty="0">
                <a:solidFill>
                  <a:srgbClr val="000000"/>
                </a:solidFill>
                <a:latin typeface="Arial Nova" panose="020B0504020202020204" pitchFamily="34" charset="0"/>
                <a:ea typeface="Muli"/>
                <a:cs typeface="Muli"/>
                <a:sym typeface="Muli"/>
              </a:rPr>
              <a:t>PHÁT TRIỂN THÀNH CÔNG MỘT WEBSITE BÁN NƯỚC HOA VỚI CÁC CHỨC NĂNG CƠ BẢN NHƯ:</a:t>
            </a:r>
          </a:p>
          <a:p>
            <a:pPr marL="656917" lvl="1" indent="-328458" algn="l">
              <a:lnSpc>
                <a:spcPts val="4259"/>
              </a:lnSpc>
              <a:buFont typeface="Arial"/>
              <a:buChar char="•"/>
            </a:pPr>
            <a:r>
              <a:rPr lang="en-US" sz="3042" spc="593" dirty="0">
                <a:solidFill>
                  <a:srgbClr val="000000"/>
                </a:solidFill>
                <a:latin typeface="Arial Nova" panose="020B0504020202020204" pitchFamily="34" charset="0"/>
                <a:ea typeface="Muli"/>
                <a:cs typeface="Muli"/>
                <a:sym typeface="Muli"/>
              </a:rPr>
              <a:t>QUẢN LÝ SẢN PHẨM (THÊM, SỬA, XÓA SẢN PHẨM).</a:t>
            </a:r>
          </a:p>
          <a:p>
            <a:pPr marL="656917" lvl="1" indent="-328458" algn="l">
              <a:lnSpc>
                <a:spcPts val="4259"/>
              </a:lnSpc>
              <a:buFont typeface="Arial"/>
              <a:buChar char="•"/>
            </a:pPr>
            <a:r>
              <a:rPr lang="en-US" sz="3042" spc="593" dirty="0">
                <a:solidFill>
                  <a:srgbClr val="000000"/>
                </a:solidFill>
                <a:latin typeface="Arial Nova" panose="020B0504020202020204" pitchFamily="34" charset="0"/>
                <a:ea typeface="Muli"/>
                <a:cs typeface="Muli"/>
                <a:sym typeface="Muli"/>
              </a:rPr>
              <a:t>CHỨC NĂNG TÌM KIẾM VÀ PHÂN LOẠI SẢN PHẨM THEO DANH MỤC.</a:t>
            </a:r>
          </a:p>
          <a:p>
            <a:pPr marL="656917" lvl="1" indent="-328458" algn="l">
              <a:lnSpc>
                <a:spcPts val="4259"/>
              </a:lnSpc>
              <a:buFont typeface="Arial"/>
              <a:buChar char="•"/>
            </a:pPr>
            <a:r>
              <a:rPr lang="en-US" sz="3042" spc="593" dirty="0">
                <a:solidFill>
                  <a:srgbClr val="000000"/>
                </a:solidFill>
                <a:latin typeface="Arial Nova" panose="020B0504020202020204" pitchFamily="34" charset="0"/>
                <a:ea typeface="Muli"/>
                <a:cs typeface="Muli"/>
                <a:sym typeface="Muli"/>
              </a:rPr>
              <a:t>GIỎ HÀNG VÀ THANH TOÁN TRỰC TUYẾN.</a:t>
            </a:r>
          </a:p>
          <a:p>
            <a:pPr marL="656917" lvl="1" indent="-328458" algn="l">
              <a:lnSpc>
                <a:spcPts val="4259"/>
              </a:lnSpc>
              <a:buFont typeface="Arial"/>
              <a:buChar char="•"/>
            </a:pPr>
            <a:r>
              <a:rPr lang="en-US" sz="3042" spc="593" dirty="0">
                <a:solidFill>
                  <a:srgbClr val="000000"/>
                </a:solidFill>
                <a:latin typeface="Arial Nova" panose="020B0504020202020204" pitchFamily="34" charset="0"/>
                <a:ea typeface="Muli"/>
                <a:cs typeface="Muli"/>
                <a:sym typeface="Muli"/>
              </a:rPr>
              <a:t>GIAO DIỆN THÂN THIỆN, DỄ SỬ DỤNG, PHÙ HỢP VỚI TRẢI NGHIỆM NGƯỜI DÙNG.</a:t>
            </a:r>
          </a:p>
        </p:txBody>
      </p:sp>
      <p:sp>
        <p:nvSpPr>
          <p:cNvPr id="6" name="Freeform 6"/>
          <p:cNvSpPr/>
          <p:nvPr/>
        </p:nvSpPr>
        <p:spPr>
          <a:xfrm>
            <a:off x="11004875" y="3922119"/>
            <a:ext cx="6012599" cy="5336181"/>
          </a:xfrm>
          <a:custGeom>
            <a:avLst/>
            <a:gdLst/>
            <a:ahLst/>
            <a:cxnLst/>
            <a:rect l="l" t="t" r="r" b="b"/>
            <a:pathLst>
              <a:path w="6012599" h="5336181">
                <a:moveTo>
                  <a:pt x="0" y="0"/>
                </a:moveTo>
                <a:lnTo>
                  <a:pt x="6012599" y="0"/>
                </a:lnTo>
                <a:lnTo>
                  <a:pt x="6012599" y="5336181"/>
                </a:lnTo>
                <a:lnTo>
                  <a:pt x="0" y="5336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58666" y="165100"/>
            <a:ext cx="393912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97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KẾT LUẬN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94243" y="-1071552"/>
            <a:ext cx="9425184" cy="2100252"/>
            <a:chOff x="0" y="0"/>
            <a:chExt cx="2482353" cy="553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82353" cy="553153"/>
            </a:xfrm>
            <a:custGeom>
              <a:avLst/>
              <a:gdLst/>
              <a:ahLst/>
              <a:cxnLst/>
              <a:rect l="l" t="t" r="r" b="b"/>
              <a:pathLst>
                <a:path w="2482353" h="553153">
                  <a:moveTo>
                    <a:pt x="0" y="0"/>
                  </a:moveTo>
                  <a:lnTo>
                    <a:pt x="2482353" y="0"/>
                  </a:lnTo>
                  <a:lnTo>
                    <a:pt x="2482353" y="553153"/>
                  </a:lnTo>
                  <a:lnTo>
                    <a:pt x="0" y="553153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482353" cy="610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004875" y="4701423"/>
            <a:ext cx="4835769" cy="4114800"/>
          </a:xfrm>
          <a:custGeom>
            <a:avLst/>
            <a:gdLst/>
            <a:ahLst/>
            <a:cxnLst/>
            <a:rect l="l" t="t" r="r" b="b"/>
            <a:pathLst>
              <a:path w="4835769" h="4114800">
                <a:moveTo>
                  <a:pt x="0" y="0"/>
                </a:moveTo>
                <a:lnTo>
                  <a:pt x="4835769" y="0"/>
                </a:lnTo>
                <a:lnTo>
                  <a:pt x="48357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-246064" y="165100"/>
            <a:ext cx="837700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97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HƯỚNG PHÁT TRIỂN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246917"/>
            <a:ext cx="10945728" cy="535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079" lvl="1" indent="-326540" algn="l">
              <a:lnSpc>
                <a:spcPts val="4234"/>
              </a:lnSpc>
              <a:spcBef>
                <a:spcPct val="0"/>
              </a:spcBef>
              <a:buFont typeface="Arial"/>
              <a:buChar char="•"/>
            </a:pPr>
            <a:r>
              <a:rPr lang="en-US" sz="3024" spc="589" dirty="0">
                <a:solidFill>
                  <a:srgbClr val="000000"/>
                </a:solidFill>
                <a:latin typeface="Arial Nova" panose="020B0504020202020204" pitchFamily="34" charset="0"/>
                <a:ea typeface="Muli Bold"/>
                <a:cs typeface="Muli Bold"/>
                <a:sym typeface="Muli Bold"/>
              </a:rPr>
              <a:t>TỐI ƯU HÓA HIỆU NĂNG: CẢI THIỆN TỐC ĐỘ TẢI TRANG VÀ TỐI ƯU HÓA CƠ SỞ DỮ LIỆU ĐỂ XỬ LÝ LƯỢNG TRUY CẬP LỚN HƠN.</a:t>
            </a:r>
          </a:p>
          <a:p>
            <a:pPr marL="653079" lvl="1" indent="-326540" algn="l">
              <a:lnSpc>
                <a:spcPts val="4234"/>
              </a:lnSpc>
              <a:spcBef>
                <a:spcPct val="0"/>
              </a:spcBef>
              <a:buFont typeface="Arial"/>
              <a:buChar char="•"/>
            </a:pPr>
            <a:r>
              <a:rPr lang="en-US" sz="3024" spc="589" dirty="0">
                <a:solidFill>
                  <a:srgbClr val="000000"/>
                </a:solidFill>
                <a:latin typeface="Arial Nova" panose="020B0504020202020204" pitchFamily="34" charset="0"/>
                <a:ea typeface="Muli Bold"/>
                <a:cs typeface="Muli Bold"/>
                <a:sym typeface="Muli Bold"/>
              </a:rPr>
              <a:t>TÍCH HỢP AI/ML: XÂY DỰNG HỆ THỐNG GỢI Ý SẢN PHẨM DỰA TRÊN SỞ THÍCH VÀ HÀNH VI NGƯỜI DÙNG.</a:t>
            </a:r>
          </a:p>
          <a:p>
            <a:pPr marL="653079" lvl="1" indent="-326540" algn="l">
              <a:lnSpc>
                <a:spcPts val="4234"/>
              </a:lnSpc>
              <a:spcBef>
                <a:spcPct val="0"/>
              </a:spcBef>
              <a:buFont typeface="Arial"/>
              <a:buChar char="•"/>
            </a:pPr>
            <a:r>
              <a:rPr lang="en-US" sz="3024" spc="589" dirty="0">
                <a:solidFill>
                  <a:srgbClr val="000000"/>
                </a:solidFill>
                <a:latin typeface="Arial Nova" panose="020B0504020202020204" pitchFamily="34" charset="0"/>
                <a:ea typeface="Muli Bold"/>
                <a:cs typeface="Muli Bold"/>
                <a:sym typeface="Muli Bold"/>
              </a:rPr>
              <a:t>HỖ TRỢ ĐA NGÔN NGỮ: MỞ RỘNG TÍNH NĂNG HỖ TRỢ NHIỀU NGÔN NGỮ ĐỂ PHỤC VỤ KHÁCH HÀNG QUỐC TẾ.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44852" y="4419582"/>
            <a:ext cx="10749819" cy="2100252"/>
            <a:chOff x="0" y="0"/>
            <a:chExt cx="2831228" cy="5531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1228" cy="553153"/>
            </a:xfrm>
            <a:custGeom>
              <a:avLst/>
              <a:gdLst/>
              <a:ahLst/>
              <a:cxnLst/>
              <a:rect l="l" t="t" r="r" b="b"/>
              <a:pathLst>
                <a:path w="2831228" h="553153">
                  <a:moveTo>
                    <a:pt x="0" y="0"/>
                  </a:moveTo>
                  <a:lnTo>
                    <a:pt x="2831228" y="0"/>
                  </a:lnTo>
                  <a:lnTo>
                    <a:pt x="2831228" y="553153"/>
                  </a:lnTo>
                  <a:lnTo>
                    <a:pt x="0" y="553153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31228" cy="610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40384" y="4426295"/>
            <a:ext cx="12358756" cy="186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78"/>
              </a:lnSpc>
              <a:spcBef>
                <a:spcPct val="0"/>
              </a:spcBef>
            </a:pPr>
            <a:r>
              <a:rPr lang="en-US" sz="10841" b="1">
                <a:solidFill>
                  <a:srgbClr val="E8F0FF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1075" y="6773603"/>
            <a:ext cx="6237375" cy="52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3"/>
              </a:lnSpc>
              <a:spcBef>
                <a:spcPct val="0"/>
              </a:spcBef>
            </a:pPr>
            <a:r>
              <a:rPr lang="en-US" sz="2974">
                <a:solidFill>
                  <a:srgbClr val="272B64"/>
                </a:solidFill>
                <a:latin typeface="Raleway"/>
                <a:ea typeface="Raleway"/>
                <a:cs typeface="Raleway"/>
                <a:sym typeface="Raleway"/>
              </a:rPr>
              <a:t>www.reallygreatsite.com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010076" y="9236874"/>
            <a:ext cx="10749819" cy="2100252"/>
            <a:chOff x="0" y="0"/>
            <a:chExt cx="2831228" cy="5531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31228" cy="553153"/>
            </a:xfrm>
            <a:custGeom>
              <a:avLst/>
              <a:gdLst/>
              <a:ahLst/>
              <a:cxnLst/>
              <a:rect l="l" t="t" r="r" b="b"/>
              <a:pathLst>
                <a:path w="2831228" h="553153">
                  <a:moveTo>
                    <a:pt x="0" y="0"/>
                  </a:moveTo>
                  <a:lnTo>
                    <a:pt x="2831228" y="0"/>
                  </a:lnTo>
                  <a:lnTo>
                    <a:pt x="2831228" y="553153"/>
                  </a:lnTo>
                  <a:lnTo>
                    <a:pt x="0" y="553153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831228" cy="610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3341957" y="-1050126"/>
            <a:ext cx="10749819" cy="2100252"/>
            <a:chOff x="0" y="0"/>
            <a:chExt cx="2831228" cy="5531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31228" cy="553153"/>
            </a:xfrm>
            <a:custGeom>
              <a:avLst/>
              <a:gdLst/>
              <a:ahLst/>
              <a:cxnLst/>
              <a:rect l="l" t="t" r="r" b="b"/>
              <a:pathLst>
                <a:path w="2831228" h="553153">
                  <a:moveTo>
                    <a:pt x="0" y="0"/>
                  </a:moveTo>
                  <a:lnTo>
                    <a:pt x="2831228" y="0"/>
                  </a:lnTo>
                  <a:lnTo>
                    <a:pt x="2831228" y="553153"/>
                  </a:lnTo>
                  <a:lnTo>
                    <a:pt x="0" y="553153"/>
                  </a:lnTo>
                  <a:close/>
                </a:path>
              </a:pathLst>
            </a:custGeom>
            <a:solidFill>
              <a:srgbClr val="272B6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831228" cy="610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324454" y="7821437"/>
            <a:ext cx="2008504" cy="1099200"/>
          </a:xfrm>
          <a:custGeom>
            <a:avLst/>
            <a:gdLst/>
            <a:ahLst/>
            <a:cxnLst/>
            <a:rect l="l" t="t" r="r" b="b"/>
            <a:pathLst>
              <a:path w="2008504" h="1099200">
                <a:moveTo>
                  <a:pt x="0" y="0"/>
                </a:moveTo>
                <a:lnTo>
                  <a:pt x="2008505" y="0"/>
                </a:lnTo>
                <a:lnTo>
                  <a:pt x="2008505" y="1099199"/>
                </a:lnTo>
                <a:lnTo>
                  <a:pt x="0" y="1099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929161" y="1512007"/>
            <a:ext cx="2008504" cy="1099200"/>
          </a:xfrm>
          <a:custGeom>
            <a:avLst/>
            <a:gdLst/>
            <a:ahLst/>
            <a:cxnLst/>
            <a:rect l="l" t="t" r="r" b="b"/>
            <a:pathLst>
              <a:path w="2008504" h="1099200">
                <a:moveTo>
                  <a:pt x="0" y="0"/>
                </a:moveTo>
                <a:lnTo>
                  <a:pt x="2008505" y="0"/>
                </a:lnTo>
                <a:lnTo>
                  <a:pt x="2008505" y="1099200"/>
                </a:lnTo>
                <a:lnTo>
                  <a:pt x="0" y="1099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7331271" y="2974421"/>
            <a:ext cx="944008" cy="1111786"/>
          </a:xfrm>
          <a:custGeom>
            <a:avLst/>
            <a:gdLst/>
            <a:ahLst/>
            <a:cxnLst/>
            <a:rect l="l" t="t" r="r" b="b"/>
            <a:pathLst>
              <a:path w="944008" h="1111786">
                <a:moveTo>
                  <a:pt x="0" y="0"/>
                </a:moveTo>
                <a:lnTo>
                  <a:pt x="944008" y="0"/>
                </a:lnTo>
                <a:lnTo>
                  <a:pt x="944008" y="1111786"/>
                </a:lnTo>
                <a:lnTo>
                  <a:pt x="0" y="1111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420201" y="2986922"/>
            <a:ext cx="2536527" cy="67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  <a:spcBef>
                <a:spcPct val="0"/>
              </a:spcBef>
            </a:pPr>
            <a:r>
              <a:rPr lang="en-US" sz="3960" b="1">
                <a:solidFill>
                  <a:srgbClr val="272B64"/>
                </a:solidFill>
                <a:latin typeface="Raleway Bold"/>
                <a:ea typeface="Raleway Bold"/>
                <a:cs typeface="Raleway Bold"/>
                <a:sym typeface="Raleway Bold"/>
              </a:rPr>
              <a:t>INGOUDE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20201" y="3592847"/>
            <a:ext cx="2536527" cy="40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  <a:spcBef>
                <a:spcPct val="0"/>
              </a:spcBef>
            </a:pPr>
            <a:r>
              <a:rPr lang="en-US" sz="2336" spc="455">
                <a:solidFill>
                  <a:srgbClr val="272B64"/>
                </a:solidFill>
                <a:latin typeface="Raleway"/>
                <a:ea typeface="Raleway"/>
                <a:cs typeface="Raleway"/>
                <a:sym typeface="Raleway"/>
              </a:rPr>
              <a:t>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406</Words>
  <Application>Microsoft Office PowerPoint</Application>
  <PresentationFormat>Custom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 Nova</vt:lpstr>
      <vt:lpstr>Raleway Bold</vt:lpstr>
      <vt:lpstr>Arial</vt:lpstr>
      <vt:lpstr>Muli</vt:lpstr>
      <vt:lpstr>Raleway</vt:lpstr>
      <vt:lpstr>Calibri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Professional Business Presentation</dc:title>
  <cp:lastModifiedBy>Le Thi Nguyen Xuyen</cp:lastModifiedBy>
  <cp:revision>2</cp:revision>
  <dcterms:created xsi:type="dcterms:W3CDTF">2006-08-16T00:00:00Z</dcterms:created>
  <dcterms:modified xsi:type="dcterms:W3CDTF">2025-01-13T03:34:41Z</dcterms:modified>
  <dc:identifier>DAGcAVo3W3I</dc:identifier>
</cp:coreProperties>
</file>